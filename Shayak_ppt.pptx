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Source Sans 3" panose="020B0604020202020204" charset="0"/>
      <p:regular r:id="rId13"/>
    </p:embeddedFont>
    <p:embeddedFont>
      <p:font typeface="Source Serif 4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949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655787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Sahayak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320156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AI-powered civic complaint assistant — making government accountability accessible to every Indian citizen through simple voice interaction.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206576"/>
            <a:ext cx="1300237" cy="281136"/>
          </a:xfrm>
          <a:prstGeom prst="roundRect">
            <a:avLst>
              <a:gd name="adj" fmla="val 17881"/>
            </a:avLst>
          </a:prstGeom>
          <a:solidFill>
            <a:srgbClr val="F0D4F7"/>
          </a:solidFill>
          <a:ln/>
        </p:spPr>
      </p:sp>
      <p:sp>
        <p:nvSpPr>
          <p:cNvPr id="6" name="Text 3"/>
          <p:cNvSpPr/>
          <p:nvPr/>
        </p:nvSpPr>
        <p:spPr>
          <a:xfrm>
            <a:off x="613321" y="3251448"/>
            <a:ext cx="1120750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HACKATHON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067619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The Problem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52577" y="1731987"/>
            <a:ext cx="4667845" cy="1097161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06912" y="1886322"/>
            <a:ext cx="182143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Everyday Civic Issues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106912" y="2196033"/>
            <a:ext cx="435917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Potholes, garbage overflow, broken streetlights, water leakage — millions face these daily.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952577" y="2978721"/>
            <a:ext cx="4667845" cy="1097161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06912" y="3133055"/>
            <a:ext cx="219387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Broken Complaint System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06912" y="3442767"/>
            <a:ext cx="435917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citizens never file complaints — the process is confusing, slow, and fragmented across departments.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72939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What is Sahayak?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05558"/>
            <a:ext cx="2596679" cy="2596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89945" y="2081064"/>
            <a:ext cx="513516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Sahayak is an </a:t>
            </a: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AI-powered civic complaint assistant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that lets citizens file complaints using voice in </a:t>
            </a:r>
            <a:r>
              <a:rPr lang="en-US" sz="115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Hindi or English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489945" y="2694459"/>
            <a:ext cx="5135166" cy="1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Understands the complaint automatically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Identifies the responsible government authority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Generates a formal complaint draft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Creates a tracking workflow with reference ID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73633"/>
            <a:ext cx="2970237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How It Works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34" y="957932"/>
            <a:ext cx="8130332" cy="35060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3889" y="3805867"/>
            <a:ext cx="1735894" cy="21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AI Analysis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53889" y="2994281"/>
            <a:ext cx="1735894" cy="21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Backend Processing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53889" y="2190892"/>
            <a:ext cx="1735894" cy="21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Transcribe Audio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53889" y="1379305"/>
            <a:ext cx="1735894" cy="21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Record Complaint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3050" y="4583757"/>
            <a:ext cx="8197900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voice to verified complaint in seconds — no forms, no confusion, no bureaucratic maze.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50354"/>
            <a:ext cx="353035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AI Analysis in Action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47936" y="1882973"/>
            <a:ext cx="36416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"नोएडा सेक्टर 62 के पास रोड टूटी हुई है"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882973"/>
            <a:ext cx="19050" cy="23939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5" name="Text 3"/>
          <p:cNvSpPr/>
          <p:nvPr/>
        </p:nvSpPr>
        <p:spPr>
          <a:xfrm>
            <a:off x="523577" y="2290614"/>
            <a:ext cx="3865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single spoken sentence is all it takes. Sahayak does the rest.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9226" y="1882973"/>
            <a:ext cx="1858194" cy="946175"/>
          </a:xfrm>
          <a:prstGeom prst="roundRect">
            <a:avLst>
              <a:gd name="adj" fmla="val 966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0176" y="1882973"/>
            <a:ext cx="76200" cy="946175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8" name="Text 6"/>
          <p:cNvSpPr/>
          <p:nvPr/>
        </p:nvSpPr>
        <p:spPr>
          <a:xfrm>
            <a:off x="4984998" y="2051596"/>
            <a:ext cx="146379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Issue Type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84998" y="2421136"/>
            <a:ext cx="146379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Roads &amp; Potholes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66992" y="1882973"/>
            <a:ext cx="1858194" cy="946175"/>
          </a:xfrm>
          <a:prstGeom prst="roundRect">
            <a:avLst>
              <a:gd name="adj" fmla="val 966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47942" y="1882973"/>
            <a:ext cx="76200" cy="946175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12" name="Text 10"/>
          <p:cNvSpPr/>
          <p:nvPr/>
        </p:nvSpPr>
        <p:spPr>
          <a:xfrm>
            <a:off x="6992764" y="2051596"/>
            <a:ext cx="146379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Authority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92764" y="2421136"/>
            <a:ext cx="146379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Municipal Corporation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9226" y="2978721"/>
            <a:ext cx="1858194" cy="946175"/>
          </a:xfrm>
          <a:prstGeom prst="roundRect">
            <a:avLst>
              <a:gd name="adj" fmla="val 966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40176" y="2978721"/>
            <a:ext cx="76200" cy="946175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16" name="Text 14"/>
          <p:cNvSpPr/>
          <p:nvPr/>
        </p:nvSpPr>
        <p:spPr>
          <a:xfrm>
            <a:off x="4984998" y="3147343"/>
            <a:ext cx="146379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Severity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84998" y="3516883"/>
            <a:ext cx="146379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66992" y="2978721"/>
            <a:ext cx="1858194" cy="946175"/>
          </a:xfrm>
          <a:prstGeom prst="roundRect">
            <a:avLst>
              <a:gd name="adj" fmla="val 966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47942" y="2978721"/>
            <a:ext cx="76200" cy="946175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20" name="Text 18"/>
          <p:cNvSpPr/>
          <p:nvPr/>
        </p:nvSpPr>
        <p:spPr>
          <a:xfrm>
            <a:off x="6992764" y="3147343"/>
            <a:ext cx="146379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Location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992764" y="3516883"/>
            <a:ext cx="146379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Noida Sector 62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02990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442219"/>
            <a:ext cx="374005" cy="374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0032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312938"/>
            <a:ext cx="395488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Next.js, Tailwind CSS, TypeScript with glassmorphism UI &amp; animated timeline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464" y="1442219"/>
            <a:ext cx="374005" cy="3740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5464" y="20032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Voice Recognition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5464" y="2312938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Browser SpeechRecognition API — no third-party dependency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3090937"/>
            <a:ext cx="374005" cy="374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3577" y="365194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AI Engine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3577" y="3961656"/>
            <a:ext cx="395488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Gemini API for NLP analysis, authority routing &amp; draft generation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5464" y="3090937"/>
            <a:ext cx="374005" cy="3740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5464" y="365194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5464" y="3961656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Next.js API Routes with offline demo fallback mode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678260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Key Features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2417490"/>
            <a:ext cx="8096845" cy="1047750"/>
          </a:xfrm>
          <a:prstGeom prst="roundRect">
            <a:avLst>
              <a:gd name="adj" fmla="val 5997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8340" y="2422252"/>
            <a:ext cx="2695724" cy="519113"/>
          </a:xfrm>
          <a:prstGeom prst="roundRect">
            <a:avLst>
              <a:gd name="adj" fmla="val 12105"/>
            </a:avLst>
          </a:prstGeom>
          <a:solidFill>
            <a:srgbClr val="F0D4F7"/>
          </a:solidFill>
          <a:ln/>
        </p:spPr>
      </p:sp>
      <p:sp>
        <p:nvSpPr>
          <p:cNvPr id="5" name="Text 3"/>
          <p:cNvSpPr/>
          <p:nvPr/>
        </p:nvSpPr>
        <p:spPr>
          <a:xfrm>
            <a:off x="677912" y="2571824"/>
            <a:ext cx="179784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Hindi + English Voice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24064" y="2422252"/>
            <a:ext cx="2695798" cy="519113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7" name="Shape 5"/>
          <p:cNvSpPr/>
          <p:nvPr/>
        </p:nvSpPr>
        <p:spPr>
          <a:xfrm>
            <a:off x="3224064" y="2422252"/>
            <a:ext cx="19050" cy="519113"/>
          </a:xfrm>
          <a:prstGeom prst="roundRect">
            <a:avLst>
              <a:gd name="adj" fmla="val 329856"/>
            </a:avLst>
          </a:prstGeom>
          <a:solidFill>
            <a:srgbClr val="D6BADD"/>
          </a:solidFill>
          <a:ln/>
        </p:spPr>
      </p:sp>
      <p:sp>
        <p:nvSpPr>
          <p:cNvPr id="8" name="Text 6"/>
          <p:cNvSpPr/>
          <p:nvPr/>
        </p:nvSpPr>
        <p:spPr>
          <a:xfrm>
            <a:off x="3598069" y="257182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Authority Routing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37061" y="2494806"/>
            <a:ext cx="374005" cy="374005"/>
          </a:xfrm>
          <a:prstGeom prst="roundRect">
            <a:avLst>
              <a:gd name="adj" fmla="val 1680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0525" y="2588270"/>
            <a:ext cx="187003" cy="18700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919862" y="2422252"/>
            <a:ext cx="2695798" cy="519113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12" name="Shape 9"/>
          <p:cNvSpPr/>
          <p:nvPr/>
        </p:nvSpPr>
        <p:spPr>
          <a:xfrm>
            <a:off x="5919862" y="2422252"/>
            <a:ext cx="19050" cy="519113"/>
          </a:xfrm>
          <a:prstGeom prst="roundRect">
            <a:avLst>
              <a:gd name="adj" fmla="val 329856"/>
            </a:avLst>
          </a:prstGeom>
          <a:solidFill>
            <a:srgbClr val="D6BADD"/>
          </a:solidFill>
          <a:ln/>
        </p:spPr>
      </p:sp>
      <p:sp>
        <p:nvSpPr>
          <p:cNvPr id="13" name="Text 10"/>
          <p:cNvSpPr/>
          <p:nvPr/>
        </p:nvSpPr>
        <p:spPr>
          <a:xfrm>
            <a:off x="6293867" y="257182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Severity Detection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732859" y="2494806"/>
            <a:ext cx="374005" cy="374005"/>
          </a:xfrm>
          <a:prstGeom prst="roundRect">
            <a:avLst>
              <a:gd name="adj" fmla="val 1680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6323" y="2588270"/>
            <a:ext cx="187003" cy="187003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28340" y="2941365"/>
            <a:ext cx="4043660" cy="519113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17" name="Shape 13"/>
          <p:cNvSpPr/>
          <p:nvPr/>
        </p:nvSpPr>
        <p:spPr>
          <a:xfrm>
            <a:off x="528340" y="2941365"/>
            <a:ext cx="4043660" cy="19050"/>
          </a:xfrm>
          <a:prstGeom prst="roundRect">
            <a:avLst>
              <a:gd name="adj" fmla="val 329856"/>
            </a:avLst>
          </a:prstGeom>
          <a:solidFill>
            <a:srgbClr val="D6BADD"/>
          </a:solidFill>
          <a:ln/>
        </p:spPr>
      </p:sp>
      <p:sp>
        <p:nvSpPr>
          <p:cNvPr id="18" name="Text 14"/>
          <p:cNvSpPr/>
          <p:nvPr/>
        </p:nvSpPr>
        <p:spPr>
          <a:xfrm>
            <a:off x="677912" y="3090937"/>
            <a:ext cx="20847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Formal Draft Generation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4572000" y="2941365"/>
            <a:ext cx="4043660" cy="519113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20" name="Shape 16"/>
          <p:cNvSpPr/>
          <p:nvPr/>
        </p:nvSpPr>
        <p:spPr>
          <a:xfrm>
            <a:off x="4572000" y="2941365"/>
            <a:ext cx="19050" cy="519113"/>
          </a:xfrm>
          <a:prstGeom prst="roundRect">
            <a:avLst>
              <a:gd name="adj" fmla="val 329856"/>
            </a:avLst>
          </a:prstGeom>
          <a:solidFill>
            <a:srgbClr val="D6BADD"/>
          </a:solidFill>
          <a:ln/>
        </p:spPr>
      </p:sp>
      <p:sp>
        <p:nvSpPr>
          <p:cNvPr id="21" name="Shape 17"/>
          <p:cNvSpPr/>
          <p:nvPr/>
        </p:nvSpPr>
        <p:spPr>
          <a:xfrm>
            <a:off x="4572000" y="2941365"/>
            <a:ext cx="4043660" cy="19050"/>
          </a:xfrm>
          <a:prstGeom prst="roundRect">
            <a:avLst>
              <a:gd name="adj" fmla="val 329856"/>
            </a:avLst>
          </a:prstGeom>
          <a:solidFill>
            <a:srgbClr val="D6BADD"/>
          </a:solidFill>
          <a:ln/>
        </p:spPr>
      </p:sp>
      <p:sp>
        <p:nvSpPr>
          <p:cNvPr id="22" name="Text 18"/>
          <p:cNvSpPr/>
          <p:nvPr/>
        </p:nvSpPr>
        <p:spPr>
          <a:xfrm>
            <a:off x="4946005" y="309093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Tracking ID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4384997" y="3013918"/>
            <a:ext cx="374005" cy="374005"/>
          </a:xfrm>
          <a:prstGeom prst="roundRect">
            <a:avLst>
              <a:gd name="adj" fmla="val 1680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8462" y="3107382"/>
            <a:ext cx="187003" cy="1870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24" y="385688"/>
            <a:ext cx="3864173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Why Sahayak Stands Out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24" y="1125066"/>
            <a:ext cx="2643708" cy="26437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67695" y="2234952"/>
            <a:ext cx="5198269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hackathon projects build </a:t>
            </a:r>
            <a:r>
              <a:rPr lang="en-US" sz="10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generic AI chatbots</a:t>
            </a: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Sahayak solves a </a:t>
            </a:r>
            <a:r>
              <a:rPr lang="en-US" sz="105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real-world civic problem</a:t>
            </a: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genuine social impact.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442" y="4059064"/>
            <a:ext cx="206871" cy="2068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0920" y="4054822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Voice AI + NLP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930920" y="4333949"/>
            <a:ext cx="2172072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Understands natural speech in regional languages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3584" y="4059064"/>
            <a:ext cx="206871" cy="2068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10062" y="4054822"/>
            <a:ext cx="1779091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Civic-Tech Automation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3710062" y="4333949"/>
            <a:ext cx="2172072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Bridges citizens and government seamlessly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2726" y="4059064"/>
            <a:ext cx="206871" cy="20687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89204" y="4054822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Accessibility First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6489204" y="4333949"/>
            <a:ext cx="2172072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Designed for every Indian, regardless of literacy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050" y="360387"/>
            <a:ext cx="1122387" cy="224507"/>
          </a:xfrm>
          <a:prstGeom prst="roundRect">
            <a:avLst>
              <a:gd name="adj" fmla="val 18893"/>
            </a:avLst>
          </a:prstGeom>
          <a:solidFill>
            <a:srgbClr val="F0D4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729" y="422151"/>
            <a:ext cx="100980" cy="1009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162" y="398190"/>
            <a:ext cx="819596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FUTURISTIC VISION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73050" y="627459"/>
            <a:ext cx="3712071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Future Scope &amp; Bold Ideas</a:t>
            </a:r>
            <a:endParaRPr lang="en-US" sz="2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50" y="1158553"/>
            <a:ext cx="857771" cy="8577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3050" y="2149450"/>
            <a:ext cx="1833935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WhatsApp &amp; SMS Updates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73050" y="2398961"/>
            <a:ext cx="1949574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complaint status via messaging platforms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5751" y="1158553"/>
            <a:ext cx="857845" cy="8578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55751" y="2149525"/>
            <a:ext cx="1839069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Geo-Location Verification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2555751" y="2399035"/>
            <a:ext cx="1949648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Auto-verify complaint location using GPS data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526" y="1158553"/>
            <a:ext cx="857845" cy="8578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38526" y="2149525"/>
            <a:ext cx="157884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CPGRAMS Integration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638526" y="2399035"/>
            <a:ext cx="1949648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Direct sync with national government complaint portals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301" y="1158553"/>
            <a:ext cx="857845" cy="8578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21301" y="2149525"/>
            <a:ext cx="1906339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Civic Authority Dashboard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6721301" y="2399035"/>
            <a:ext cx="1949648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Analytics &amp; smart escalation workflows for officials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050" y="2984227"/>
            <a:ext cx="857771" cy="85777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3050" y="3975125"/>
            <a:ext cx="1949574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Regional Language Support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473050" y="4410298"/>
            <a:ext cx="1949574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Expand beyond Hindi — Tamil, Telugu, Bengali &amp; more</a:t>
            </a:r>
            <a:endParaRPr lang="en-US" sz="9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5751" y="2984227"/>
            <a:ext cx="857845" cy="85784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555751" y="3975199"/>
            <a:ext cx="14850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Predictive Civic AI</a:t>
            </a:r>
            <a:endParaRPr lang="en-US" sz="1150" dirty="0"/>
          </a:p>
        </p:txBody>
      </p:sp>
      <p:sp>
        <p:nvSpPr>
          <p:cNvPr id="23" name="Text 14"/>
          <p:cNvSpPr/>
          <p:nvPr/>
        </p:nvSpPr>
        <p:spPr>
          <a:xfrm>
            <a:off x="2555751" y="4224710"/>
            <a:ext cx="1949648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ML models that predict infrastructure failures before they occur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907331"/>
            <a:ext cx="4667845" cy="1821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38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Democratising Civic Accountability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23577" y="2953345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Sahayak transforms complex government complaint systems into a simple AI-powered conversation — </a:t>
            </a:r>
            <a:r>
              <a:rPr lang="en-US" sz="115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accessible to every Indian citizen.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600376"/>
            <a:ext cx="4667845" cy="635719"/>
          </a:xfrm>
          <a:prstGeom prst="roundRect">
            <a:avLst>
              <a:gd name="adj" fmla="val 9884"/>
            </a:avLst>
          </a:prstGeom>
          <a:solidFill>
            <a:srgbClr val="B6FCB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50" y="3818334"/>
            <a:ext cx="187003" cy="1495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9724" y="3787304"/>
            <a:ext cx="40321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voice. One tap. Real change.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406</Words>
  <Application>Microsoft Office PowerPoint</Application>
  <PresentationFormat>On-screen Show (16:9)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Source Sans 3</vt:lpstr>
      <vt:lpstr>Source Serif 4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Sushil Kumar</dc:creator>
  <cp:lastModifiedBy>Sushil Kumar</cp:lastModifiedBy>
  <cp:revision>3</cp:revision>
  <dcterms:created xsi:type="dcterms:W3CDTF">2026-05-13T07:17:15Z</dcterms:created>
  <dcterms:modified xsi:type="dcterms:W3CDTF">2026-05-13T07:29:18Z</dcterms:modified>
</cp:coreProperties>
</file>